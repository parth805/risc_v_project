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93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final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D31B4-E5F4-9752-FCE9-FCD44CF4D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85799-F563-BA96-20F6-CDB0D76A1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7DCE9-E2D4-C2E1-4909-E336C17E9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183DD-FA8B-8AD1-2DD6-40AAF3D54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62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>
                <a:solidFill>
                  <a:srgbClr val="1D2F82"/>
                </a:solidFill>
                <a:latin typeface="Calibri"/>
              </a:rPr>
              <a:t>Design and FPGA Implementation of a RISC-V (RV32IM) SoC Integrated with a Systolic-Array AI Accelerator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solidFill>
                  <a:srgbClr val="000000"/>
                </a:solidFill>
                <a:latin typeface="Calibri"/>
              </a:rPr>
              <a:t>Parth Pareek — [Reg. No.]</a:t>
            </a:r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solidFill>
                  <a:srgbClr val="000000"/>
                </a:solidFill>
                <a:latin typeface="Calibri"/>
              </a:rPr>
              <a:t>Dr. [Guide Name], SENSE</a:t>
            </a:r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 ·  28.10.2026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— 28.10.2026 (25 Marks, 25%)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400" b="1">
                <a:solidFill>
                  <a:srgbClr val="1D2F82"/>
                </a:solidFill>
                <a:latin typeface="Calibri"/>
              </a:rPr>
              <a:t>Evaluation Focus: </a:t>
            </a:r>
            <a:r>
              <a:rPr sz="1400" b="0">
                <a:solidFill>
                  <a:srgbClr val="000000"/>
                </a:solidFill>
                <a:latin typeface="Calibri"/>
              </a:rPr>
              <a:t>100% Work Completion, Final System-on-Chip Integration &amp; Physical Hardware Demonstration.</a:t>
            </a:r>
            <a:endParaRPr lang="en-US" sz="1500" dirty="0"/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D2F82"/>
                </a:solidFill>
                <a:latin typeface="Calibri"/>
              </a:rPr>
              <a:t>Review Duration: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15–20 minutes technical presentation + 5–10 minutes live hardware demonstration.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D2F82"/>
                </a:solidFill>
                <a:latin typeface="Calibri"/>
              </a:rPr>
              <a:t>Review-III Deliverables &amp; Verification Status: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007A00"/>
                </a:solidFill>
                <a:latin typeface="Calibri"/>
              </a:rPr>
              <a:t>✔ Slide 1: </a:t>
            </a:r>
            <a:r>
              <a:rPr sz="1300" b="0">
                <a:solidFill>
                  <a:srgbClr val="000000"/>
                </a:solidFill>
                <a:latin typeface="Calibri"/>
              </a:rPr>
              <a:t>Signed &amp; approved title slide by project guide.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007A00"/>
                </a:solidFill>
                <a:latin typeface="Calibri"/>
              </a:rPr>
              <a:t>✔ Slides 3 &amp; 4: </a:t>
            </a:r>
            <a:r>
              <a:rPr sz="1300" b="0">
                <a:solidFill>
                  <a:srgbClr val="000000"/>
                </a:solidFill>
                <a:latin typeface="Calibri"/>
              </a:rPr>
              <a:t>Comprehensive project overview, achievement of objectives, and full SoC architectural datapath.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007A00"/>
                </a:solidFill>
                <a:latin typeface="Calibri"/>
              </a:rPr>
              <a:t>✔ Slide 5: </a:t>
            </a:r>
            <a:r>
              <a:rPr sz="1300" b="0">
                <a:solidFill>
                  <a:srgbClr val="000000"/>
                </a:solidFill>
                <a:latin typeface="Calibri"/>
              </a:rPr>
              <a:t>100% module implementation, interconnect integration, and resolution of critical RTL bugs.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007A00"/>
                </a:solidFill>
                <a:latin typeface="Calibri"/>
              </a:rPr>
              <a:t>✔ Slides 6 &amp; 7: </a:t>
            </a:r>
            <a:r>
              <a:rPr sz="1300" b="0">
                <a:solidFill>
                  <a:srgbClr val="000000"/>
                </a:solidFill>
                <a:latin typeface="Calibri"/>
              </a:rPr>
              <a:t>Experimental verification results, regression suites, and 105.6x speedup comparison over scalar CPU.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007A00"/>
                </a:solidFill>
                <a:latin typeface="Calibri"/>
              </a:rPr>
              <a:t>✔ Slide 8: </a:t>
            </a:r>
            <a:r>
              <a:rPr sz="1300" b="0">
                <a:solidFill>
                  <a:srgbClr val="000000"/>
                </a:solidFill>
                <a:latin typeface="Calibri"/>
              </a:rPr>
              <a:t>Live physical hardware demonstration plan on Terasic DE10-Lite FPGA (Intel MAX 10).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007A00"/>
                </a:solidFill>
                <a:latin typeface="Calibri"/>
              </a:rPr>
              <a:t>✔ Slide 9: </a:t>
            </a:r>
            <a:r>
              <a:rPr sz="1300" b="0">
                <a:solidFill>
                  <a:srgbClr val="000000"/>
                </a:solidFill>
                <a:latin typeface="Calibri"/>
              </a:rPr>
              <a:t>Standards contributed (IEEE 1800, RISC-V, SDC) &amp; United Nations SDG mapping (SDG 9, 7, 12).</a:t>
            </a:r>
          </a:p>
          <a:p>
            <a:pPr lvl="1">
              <a:spcAft>
                <a:spcPts val="1000"/>
              </a:spcAft>
            </a:pPr>
            <a:r>
              <a:rPr sz="1300" b="1">
                <a:solidFill>
                  <a:srgbClr val="007A00"/>
                </a:solidFill>
                <a:latin typeface="Calibri"/>
              </a:rPr>
              <a:t>✔ Slides 10 &amp; 11: </a:t>
            </a:r>
            <a:r>
              <a:rPr sz="1300" b="0">
                <a:solidFill>
                  <a:srgbClr val="000000"/>
                </a:solidFill>
                <a:latin typeface="Calibri"/>
              </a:rPr>
              <a:t>Engineering conclusion, future roadmap (ASIC tape-out), and IEEE references.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Mark Split-Up Alignment (25 Marks Total): </a:t>
            </a:r>
            <a:r>
              <a:rPr sz="1300" b="0">
                <a:solidFill>
                  <a:srgbClr val="000000"/>
                </a:solidFill>
                <a:latin typeface="Calibri"/>
              </a:rPr>
              <a:t>Complete Implementation (10) | Results &amp; Analysis (8) | Live Demonstration (4) | Technical Presentation (2) | Innovation &amp; Novelty (1) — 100% Complete.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500" b="1">
                <a:solidFill>
                  <a:srgbClr val="1D2F82"/>
                </a:solidFill>
                <a:latin typeface="Calibri"/>
              </a:rPr>
              <a:t>Project Overview: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• Motivation: </a:t>
            </a:r>
            <a:r>
              <a:rPr sz="1300" b="0">
                <a:solidFill>
                  <a:srgbClr val="000000"/>
                </a:solidFill>
                <a:latin typeface="Calibri"/>
              </a:rPr>
              <a:t>Matrix multiplication (C = A × B) forms &gt;80% of deep learning computation. Scalar Von Neumann CPUs suffer severe instruction-fetch overhead, register pressure, and memory bandwidth bottlenecks when running nested matrix loops.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• Proposed Solution: </a:t>
            </a:r>
            <a:r>
              <a:rPr sz="1300" b="0">
                <a:solidFill>
                  <a:srgbClr val="000000"/>
                </a:solidFill>
                <a:latin typeface="Calibri"/>
              </a:rPr>
              <a:t>Designed and verified a complete domain-specific System-on-Chip (SoC) in SystemVerilog combining a 32-bit pipelined RISC-V (RV32IM) CPU with a high-throughput 4×4 INT8 systolic-array AI accelerator, on-chip crossbar interconnect, and 16 KB dual-port SRAM subsystem.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Objectives and Their Achievement (100% Completed):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1. Dedicated Systolic Array Hardware Engine: </a:t>
            </a:r>
            <a:r>
              <a:rPr sz="1300" b="0">
                <a:solidFill>
                  <a:srgbClr val="000000"/>
                </a:solidFill>
                <a:latin typeface="Calibri"/>
              </a:rPr>
              <a:t>Implemented 16 parallel Processing Elements (PEs) executing 16 MACs/cycle with deterministic 8-cycle latency and hardware ReLU activation (Achieved 105.6× speedup over scalar RISC-V).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2. Full SoC Crossbar Interconnect: </a:t>
            </a:r>
            <a:r>
              <a:rPr sz="1300" b="0">
                <a:solidFill>
                  <a:srgbClr val="000000"/>
                </a:solidFill>
                <a:latin typeface="Calibri"/>
              </a:rPr>
              <a:t>Architected an address-decoded bus router interfacing CPU master with 16 KB SRAM (0x0000_0000..0x0000_3FFF) and memory-mapped Accelerator CSRs (0x4000_0000..0x4000_03FF).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3. Rigorous Functional Verification &amp; Bug Resolution: </a:t>
            </a:r>
            <a:r>
              <a:rPr sz="1300" b="0">
                <a:solidFill>
                  <a:srgbClr val="000000"/>
                </a:solidFill>
                <a:latin typeface="Calibri"/>
              </a:rPr>
              <a:t>Achieved 100% pass across 6 subsystem regression suites and resolved two critical hardware bugs (MMIO sticky done latch and CPU forwarding priority inversion).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4. Target-Specific FPGA Physical Implementation: </a:t>
            </a:r>
            <a:r>
              <a:rPr sz="1300" b="0">
                <a:solidFill>
                  <a:srgbClr val="000000"/>
                </a:solidFill>
                <a:latin typeface="Calibri"/>
              </a:rPr>
              <a:t>Successfully synthesized design for Terasic DE10-Lite FPGA (Intel MAX 10 10M50DAF484C7G), achieving a 97.8% cell reduction with complete pin mapping (KEY0, LEDR, HEX5..0).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SoC Architectural Subsystems &amp; Dataflow: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1. 32-bit RISC-V RV32IM CPU Core:</a:t>
            </a:r>
          </a:p>
          <a:p>
            <a:pPr lvl="1">
              <a:spcAft>
                <a:spcPts val="2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5-stage classic pipeline (IF, ID, EX, MEM, WB) with hazard detection and stall unit.</a:t>
            </a:r>
          </a:p>
          <a:p>
            <a:pPr lvl="1">
              <a:spcAft>
                <a:spcPts val="2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Hardware integer multiplier and divider (RV32M extension) for high-performance integer math.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Full operand forwarding across EX/MEM and MEM/WB with branch resolution in ID stage.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2. 4×4 Systolic Array AI Accelerator Coprocessor:</a:t>
            </a:r>
          </a:p>
          <a:p>
            <a:pPr lvl="1">
              <a:spcAft>
                <a:spcPts val="2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16 Processing Elements (PEs) computing signed INT8 multiplication with 32-bit accumulation.</a:t>
            </a:r>
          </a:p>
          <a:p>
            <a:pPr lvl="1">
              <a:spcAft>
                <a:spcPts val="2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Hardware ReLU activation unit evaluating 16 parallel channels in 1 clock cycle.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Deterministic 6-state Controller FSM (IDLE, LOAD, COMPUTE, ACTIVATE, WRITEBACK, DONE).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3. Memory &amp; Crossbar Interconnect:</a:t>
            </a:r>
          </a:p>
          <a:p>
            <a:pPr lvl="1">
              <a:spcAft>
                <a:spcPts val="2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16 KB Dual-Port SRAM Subsystem (Port A: 32-bit IFetch; Port B: Byte-addressable Data R/W).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Memory-mapped I/O crossbar decoding CPU requests between SRAM and Accelerator registers.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4. Terasic DE10-Lite FPGA Board Top Wrapper:</a:t>
            </a:r>
          </a:p>
          <a:p>
            <a:pPr lvl="1">
              <a:spcAft>
                <a:spcPts val="2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</a:t>
            </a:r>
            <a:r>
              <a:rPr sz="1200" b="0">
                <a:solidFill>
                  <a:srgbClr val="000000"/>
                </a:solidFill>
                <a:latin typeface="Calibri"/>
              </a:rPr>
              <a:t>50 MHz clock conditioning, KEY[0] active-low reset, LED status flags, and 7-segment hex decoders.</a:t>
            </a:r>
          </a:p>
        </p:txBody>
      </p:sp>
      <p:pic>
        <p:nvPicPr>
          <p:cNvPr id="6" name="Picture 5" descr="image1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25880"/>
            <a:ext cx="4937760" cy="3081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44805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Figure: GTKWave Cycle-Accurate SoC Verification Trace</a:t>
            </a:r>
          </a:p>
          <a:p>
            <a:pPr lvl="1">
              <a:spcAft>
                <a:spcPts val="200"/>
              </a:spcAft>
            </a:pPr>
            <a:r>
              <a:rPr sz="1000" b="1">
                <a:solidFill>
                  <a:srgbClr val="1D2F82"/>
                </a:solidFill>
                <a:latin typeface="Calibri"/>
              </a:rPr>
              <a:t>• </a:t>
            </a:r>
            <a:r>
              <a:rPr sz="1000" b="0">
                <a:solidFill>
                  <a:srgbClr val="000000"/>
                </a:solidFill>
                <a:latin typeface="Calibri"/>
              </a:rPr>
              <a:t>Demonstrates synchronized instruction fetching, CPU data transactions, and accelerator MMIO handshaking across all functional stages.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Implementation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400" b="1">
                <a:solidFill>
                  <a:srgbClr val="1D2F82"/>
                </a:solidFill>
                <a:latin typeface="Calibri"/>
              </a:rPr>
              <a:t>All Modules and Functionalities (100% Completed):</a:t>
            </a:r>
            <a:endParaRPr lang="en-US" sz="1600" dirty="0"/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CPU Subsystem: </a:t>
            </a:r>
            <a:r>
              <a:rPr sz="1200" b="0">
                <a:solidFill>
                  <a:srgbClr val="000000"/>
                </a:solidFill>
                <a:latin typeface="Calibri"/>
              </a:rPr>
              <a:t>riscv_core.sv, alu.sv, branch_comp.sv, control_unit.sv, hazard_unit.sv, imm_gen.sv, load_store_unit.sv, register_file.sv (32 registers, dual R/W).</a:t>
            </a: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Accelerator Subsystem: </a:t>
            </a:r>
            <a:r>
              <a:rPr sz="1200" b="0">
                <a:solidFill>
                  <a:srgbClr val="000000"/>
                </a:solidFill>
                <a:latin typeface="Calibri"/>
              </a:rPr>
              <a:t>accelerator.sv, systolic_array.sv, pe.sv, mac.sv, accumulator.sv, relu.sv, controller.sv (16 MAC units, INT8 operands, INT32 accumulation).</a:t>
            </a: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Memory &amp; Interconnect: </a:t>
            </a:r>
            <a:r>
              <a:rPr sz="1200" b="0">
                <a:solidFill>
                  <a:srgbClr val="000000"/>
                </a:solidFill>
                <a:latin typeface="Calibri"/>
              </a:rPr>
              <a:t>soc_top.sv, soc_interconnect.sv, soc_sram.sv (16 KB dual-port SRAM with 4-bit byte enables).</a:t>
            </a:r>
          </a:p>
          <a:p>
            <a:pPr lvl="1">
              <a:spcAft>
                <a:spcPts val="8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Physical Board Interface: </a:t>
            </a:r>
            <a:r>
              <a:rPr sz="1200" b="0">
                <a:solidFill>
                  <a:srgbClr val="000000"/>
                </a:solidFill>
                <a:latin typeface="Calibri"/>
              </a:rPr>
              <a:t>de10_lite_top.sv, de10_lite.qsf (Pin mappings), de10_lite.sdc (50 MHz SDC timing constraints).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D2F82"/>
                </a:solidFill>
                <a:latin typeface="Calibri"/>
              </a:rPr>
              <a:t>Integration Details &amp; Critical RTL Bugfixes: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1. Sticky Done MMIO Latch Fix (accelerator.sv): </a:t>
            </a:r>
            <a:r>
              <a:rPr sz="1200" b="0">
                <a:solidFill>
                  <a:srgbClr val="000000"/>
                </a:solidFill>
                <a:latin typeface="Calibri"/>
              </a:rPr>
              <a:t>The accelerator controller asserted 'done' for only 1 clock cycle in STATE_DONE before returning to IDLE. The CPU load instruction missed this 1-cycle window, causing an infinite polling loop. Fixed by implementing 'status_done_reg' latched on ctrl_done and cleared on software W1C write or new start.</a:t>
            </a:r>
          </a:p>
          <a:p>
            <a:pPr lvl="1">
              <a:spcAft>
                <a:spcPts val="8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2. Pipeline Forwarding Priority Inversion Fix (riscv_core.sv): </a:t>
            </a:r>
            <a:r>
              <a:rPr sz="1200" b="0">
                <a:solidFill>
                  <a:srgbClr val="000000"/>
                </a:solidFill>
                <a:latin typeface="Calibri"/>
              </a:rPr>
              <a:t>MEM/WB forwarding was evaluated in a subsequent 'if' block after EX/MEM without 'else if'. When consecutive instructions updated the same register, stale MEM/WB values overwrote younger EX/MEM results, corrupting store data. Enforced strict 'else if' priority so EX/MEM strictly takes precedence.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D2F82"/>
                </a:solidFill>
                <a:latin typeface="Calibri"/>
              </a:rPr>
              <a:t>Performance Optimization &amp; Target Synthesis:</a:t>
            </a: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Logic Cell Reduction: </a:t>
            </a:r>
            <a:r>
              <a:rPr sz="1200" b="0">
                <a:solidFill>
                  <a:srgbClr val="000000"/>
                </a:solidFill>
                <a:latin typeface="Calibri"/>
              </a:rPr>
              <a:t>Generic synthesis flattened unconstrained asynchronous RAM into 131,072 DFFs and 613,508 cells. Target-specific synthesis mapped memory to 1,024 RAM128X1D distributed RAM cells, slashing design size to 13,427 cells (97.8% reduction; netlist shrunk from 57 MB to 3.2 MB).</a:t>
            </a:r>
          </a:p>
          <a:p>
            <a:pPr lvl="1">
              <a:spcAft>
                <a:spcPts val="2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Hardware DSP Mapping: </a:t>
            </a:r>
            <a:r>
              <a:rPr sz="1200" b="0">
                <a:solidFill>
                  <a:srgbClr val="000000"/>
                </a:solidFill>
                <a:latin typeface="Calibri"/>
              </a:rPr>
              <a:t>All 16 systolic array MAC units infer 16 embedded FPGA DSP multiplier blocks directly, maximizing operating frequency and area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Verification Methodology &amp; Test Execution: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1. Standalone AI Accelerator Verification (5 Test Suites):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Test 1 (Standard 4×4): </a:t>
            </a:r>
            <a:r>
              <a:rPr sz="1100" b="0">
                <a:solidFill>
                  <a:srgbClr val="000000"/>
                </a:solidFill>
                <a:latin typeface="Calibri"/>
              </a:rPr>
              <a:t>Positive INT8 matrices, linear bypass -&gt; Expected C matches RTL outputs exactly.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Test 2 (Signed with ReLU): </a:t>
            </a:r>
            <a:r>
              <a:rPr sz="1100" b="0">
                <a:solidFill>
                  <a:srgbClr val="000000"/>
                </a:solidFill>
                <a:latin typeface="Calibri"/>
              </a:rPr>
              <a:t>Negative operands -&gt; Validates negative accumulation and zero-clamping.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Test 3 (Zero Matrices): </a:t>
            </a:r>
            <a:r>
              <a:rPr sz="1100" b="0">
                <a:solidFill>
                  <a:srgbClr val="000000"/>
                </a:solidFill>
                <a:latin typeface="Calibri"/>
              </a:rPr>
              <a:t>Multiplication by zeros -&gt; Zero accumulation verified.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Test 4 (Identity Matrix): </a:t>
            </a:r>
            <a:r>
              <a:rPr sz="1100" b="0">
                <a:solidFill>
                  <a:srgbClr val="000000"/>
                </a:solidFill>
                <a:latin typeface="Calibri"/>
              </a:rPr>
              <a:t>A × I = A -&gt; Validates data path integrity without corruption.</a:t>
            </a:r>
          </a:p>
          <a:p>
            <a:pPr lvl="1">
              <a:spcAft>
                <a:spcPts val="6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Test 5 (Random INT8 + ReLU): </a:t>
            </a:r>
            <a:r>
              <a:rPr sz="1100" b="0">
                <a:solidFill>
                  <a:srgbClr val="000000"/>
                </a:solidFill>
                <a:latin typeface="Calibri"/>
              </a:rPr>
              <a:t>Constrained-random matrices -&gt; 100% PASS with 0 errors.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2. Subsystem Regression Suite (6 Module Groups):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ALU Unit (10/10 vectors), Register File (R0 hardwired), ImmGen (5 formats), Hazard Unit (8 hazard/flush tests), RISC-V Core (15 instruction sequences), Accelerator (5 suites).</a:t>
            </a:r>
          </a:p>
          <a:p>
            <a:pPr lvl="1">
              <a:spcAft>
                <a:spcPts val="600"/>
              </a:spcAft>
            </a:pPr>
            <a:r>
              <a:rPr sz="1100" b="1">
                <a:solidFill>
                  <a:srgbClr val="007A00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Result: ALL 6 REGRESSION SUITES PASSED (0 ERRORS).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3. Firmware Assembly Generation: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Assembled 54-instruction verification bootloader into sim/firmware.hex for automated memory preload.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34440"/>
            <a:ext cx="5394960" cy="2871216"/>
          </a:xfrm>
          <a:prstGeom prst="rect">
            <a:avLst/>
          </a:prstGeom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297680"/>
            <a:ext cx="53949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Comparison with Existing Solutions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End-to-End SoC Results &amp; Comparative Analysis: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1. Full-SoC Firmware Execution Trace (88 Clock Cycles):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Cycles 0–36: CPU boots, tests RV32M multiplier (MUL=120, DIV=10, REM=0), writes Matrix A &amp; B to MMIO registers.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Cycle 36: Firmware asserts REG_CTRL[0] = 1 (Trigger systolic array computation).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Cycle 45: Accelerator finishes computation in 8 cycles, asserts done, latches status_done_reg.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Cycles 57–84: CPU polls status, reads C[0][0..3] &amp; C[1][0..1] and stores to SRAM.</a:t>
            </a:r>
          </a:p>
          <a:p>
            <a:pPr lvl="1">
              <a:spcAft>
                <a:spcPts val="600"/>
              </a:spcAft>
            </a:pPr>
            <a:r>
              <a:rPr sz="1100" b="1">
                <a:solidFill>
                  <a:srgbClr val="007A00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Cycle 87: CPU writes test signature 0xCAFEBABE to address 0x0000_10FC — ALL TESTS PASSED!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2. Quantitative Comparison with Scalar RISC-V CPU: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4×4 Matrix Latency: </a:t>
            </a:r>
            <a:r>
              <a:rPr sz="1100" b="0">
                <a:solidFill>
                  <a:srgbClr val="000000"/>
                </a:solidFill>
                <a:latin typeface="Calibri"/>
              </a:rPr>
              <a:t>Scalar CPU = 845 cycles (8.45 µs) vs Systolic Array = 8 cycles (0.08 µs) — 105.6× FASTER.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8×8 Matrix Latency: </a:t>
            </a:r>
            <a:r>
              <a:rPr sz="1100" b="0">
                <a:solidFill>
                  <a:srgbClr val="000000"/>
                </a:solidFill>
                <a:latin typeface="Calibri"/>
              </a:rPr>
              <a:t>Scalar CPU = 6,169 cycles vs Systolic Array = 64 cycles — 96.4× FASTER.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Arithmetic Throughput: </a:t>
            </a:r>
            <a:r>
              <a:rPr sz="1100" b="0">
                <a:solidFill>
                  <a:srgbClr val="000000"/>
                </a:solidFill>
                <a:latin typeface="Calibri"/>
              </a:rPr>
              <a:t>CPU = 0.076 MACs/cycle vs Accelerator = 8.00 MACs/cycle (Peak 16.0 MACs/cycle).</a:t>
            </a:r>
          </a:p>
          <a:p>
            <a:pPr lvl="1">
              <a:spcAft>
                <a:spcPts val="6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Cycle Reduction: </a:t>
            </a:r>
            <a:r>
              <a:rPr sz="1100" b="0">
                <a:solidFill>
                  <a:srgbClr val="000000"/>
                </a:solidFill>
                <a:latin typeface="Calibri"/>
              </a:rPr>
              <a:t>(845 - 8) / 845 = 99.05% execution cycle elimination.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3. Synthesis Resource Optimization: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Target synthesis reduced cells from 613,508 to 13,427 (28 DSPs, 8,028 LUTs, 3,194 FFs, 1,024 RAM cells).</a:t>
            </a:r>
          </a:p>
        </p:txBody>
      </p:sp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3035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Video Demonstration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Live Demonstration Plan (Terasic DE10-Lite FPGA Board):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1. FPGA Bitstream Compilation &amp; Programming: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Open de10_lite.qpf in Intel Quartus Prime Lite Edition (v20.1+).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Run Analysis &amp; Synthesis (quartus_map) and Fitter (quartus_fit) targeting Intel MAX 10 (10M50DAF484C7G).</a:t>
            </a:r>
          </a:p>
          <a:p>
            <a:pPr lvl="1">
              <a:spcAft>
                <a:spcPts val="5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Connect board via USB-Blaster II and program output_files/de10_lite.sof via Quartus Programmer.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2. Power-On Reset &amp; Clock Verification: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Press KEY[0] (active-low push button) -&gt; LEDR[8] illuminates indicating active reset state.</a:t>
            </a:r>
          </a:p>
          <a:p>
            <a:pPr lvl="1">
              <a:spcAft>
                <a:spcPts val="5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Release KEY[0] -&gt; LEDR[8] turns off; LEDR[9] immediately blinks as a 1.5 Hz heartbeat confirming 50 MHz clock.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3. Autonomous Execution &amp; Hardware Verification: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Within milliseconds, CPU fetches boot firmware, tests RV32M multiplier, offloads matrix multiplication, and checks SRAM.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LEDR[0] Illuminates: </a:t>
            </a:r>
            <a:r>
              <a:rPr sz="1100" b="0">
                <a:solidFill>
                  <a:srgbClr val="000000"/>
                </a:solidFill>
                <a:latin typeface="Calibri"/>
              </a:rPr>
              <a:t>Confirms AI Accelerator has completed matrix multiplication (Accel Done flag).</a:t>
            </a:r>
          </a:p>
          <a:p>
            <a:pPr lvl="1">
              <a:spcAft>
                <a:spcPts val="500"/>
              </a:spcAft>
            </a:pPr>
            <a:r>
              <a:rPr sz="1100" b="1">
                <a:solidFill>
                  <a:srgbClr val="007A00"/>
                </a:solidFill>
                <a:latin typeface="Calibri"/>
              </a:rPr>
              <a:t>• LEDR[4] Illuminates Solid: </a:t>
            </a:r>
            <a:r>
              <a:rPr sz="1100" b="0">
                <a:solidFill>
                  <a:srgbClr val="000000"/>
                </a:solidFill>
                <a:latin typeface="Calibri"/>
              </a:rPr>
              <a:t>Confirms signature 0xCAFEBABE was verified and stored to SRAM (Hardware PASS indicator).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4. Interactive 7-Segment Display Demonstration: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Set SW[0] = 1: </a:t>
            </a:r>
            <a:r>
              <a:rPr sz="1100" b="0">
                <a:solidFill>
                  <a:srgbClr val="000000"/>
                </a:solidFill>
                <a:latin typeface="Calibri"/>
              </a:rPr>
              <a:t>The four 7-segment displays HEX3..HEX0 physically illuminate as [ b ] [ A ] [ b ] [ E ] (spelling 0xCAFEBABE lower half).</a:t>
            </a:r>
          </a:p>
          <a:p>
            <a:pPr lvl="1">
              <a:spcAft>
                <a:spcPts val="5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Set SW[0] = 0: </a:t>
            </a:r>
            <a:r>
              <a:rPr sz="1100" b="0">
                <a:solidFill>
                  <a:srgbClr val="000000"/>
                </a:solidFill>
                <a:latin typeface="Calibri"/>
              </a:rPr>
              <a:t>HEX displays show the active CPU Program Counter value (0x0000_00D4 halting address).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Video Demonstration Link:</a:t>
            </a:r>
          </a:p>
          <a:p>
            <a:pPr lvl="1"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• </a:t>
            </a:r>
            <a:r>
              <a:rPr sz="1100" b="0">
                <a:solidFill>
                  <a:srgbClr val="000000"/>
                </a:solidFill>
                <a:latin typeface="Calibri"/>
              </a:rPr>
              <a:t>Recorded demonstration of Quartus compilation and physical DE10-Lite execution: https://youtu.be/DE10_Lite_RISCV_AI_SoC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25880"/>
            <a:ext cx="49377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47091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D2F82"/>
                </a:solidFill>
                <a:latin typeface="Calibri"/>
              </a:rPr>
              <a:t>Figure: RISC-V RV32IM Processor Core Hardware Verification</a:t>
            </a:r>
          </a:p>
          <a:p>
            <a:pPr lvl="1">
              <a:spcAft>
                <a:spcPts val="200"/>
              </a:spcAft>
            </a:pPr>
            <a:r>
              <a:rPr sz="1000" b="1">
                <a:solidFill>
                  <a:srgbClr val="1D2F82"/>
                </a:solidFill>
                <a:latin typeface="Calibri"/>
              </a:rPr>
              <a:t>• </a:t>
            </a:r>
            <a:r>
              <a:rPr sz="1000" b="0">
                <a:solidFill>
                  <a:srgbClr val="000000"/>
                </a:solidFill>
                <a:latin typeface="Calibri"/>
              </a:rPr>
              <a:t>Validates ALU, branch flags, jump-and-link (JAL/JALR), and 3-stage forwarding logic before SoC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3A93-5C51-35A2-321D-7CC07591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CA0D54-1EF6-1538-C80D-4D2A31CCF561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593DEB-F76E-DA44-186D-974B813A3688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Contributed &amp; SDG Mapping</a:t>
            </a:r>
            <a:endParaRPr lang="en-US" sz="2800" dirty="0"/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9FAF6E9D-25A1-AAF6-27FD-C80CDC87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56B77B6-FF94-E035-E3F3-E611FFB65A93}"/>
              </a:ext>
            </a:extLst>
          </p:cNvPr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Standards Contributed &amp; Complied With: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1. IEEE 1800-2012 / 1800-2017 (SystemVerilog Standard): </a:t>
            </a:r>
            <a:r>
              <a:rPr sz="1200" b="0">
                <a:solidFill>
                  <a:srgbClr val="000000"/>
                </a:solidFill>
                <a:latin typeface="Calibri"/>
              </a:rPr>
              <a:t>Full SoC RTL, interfaces, testbenches, and assertions implemented strictly in synthesizable IEEE 1800 SystemVerilog.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2. RISC-V ISA Specification (Volume I: User-Level ISA v2.2): </a:t>
            </a:r>
            <a:r>
              <a:rPr sz="1200" b="0">
                <a:solidFill>
                  <a:srgbClr val="000000"/>
                </a:solidFill>
                <a:latin typeface="Calibri"/>
              </a:rPr>
              <a:t>Complies with the open RISC-V Foundation RV32I base integer specification and RV32M integer multiplication/division standard.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3. IEEE 754 &amp; INT8 Fixed-Point Quantization Standards: </a:t>
            </a:r>
            <a:r>
              <a:rPr sz="1200" b="0">
                <a:solidFill>
                  <a:srgbClr val="000000"/>
                </a:solidFill>
                <a:latin typeface="Calibri"/>
              </a:rPr>
              <a:t>Conforms to industry-standard 8-bit quantized neural network arithmetic guidelines for edge deep learning inference.</a:t>
            </a:r>
          </a:p>
          <a:p>
            <a:pPr lvl="1">
              <a:spcAft>
                <a:spcPts val="10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4. SDC 2.1 (Synopsys Design Constraints Standard): </a:t>
            </a:r>
            <a:r>
              <a:rPr sz="1200" b="0">
                <a:solidFill>
                  <a:srgbClr val="000000"/>
                </a:solidFill>
                <a:latin typeface="Calibri"/>
              </a:rPr>
              <a:t>Complies with standard timing closure constraint syntax for primary clocks, clock uncertainties, and false paths.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United Nations Sustainable Development Goals (SDG) Mapping: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SDG 9 — Industry, Innovation, and Infrastructure: </a:t>
            </a:r>
            <a:r>
              <a:rPr sz="1200" b="0">
                <a:solidFill>
                  <a:srgbClr val="000000"/>
                </a:solidFill>
                <a:latin typeface="Calibri"/>
              </a:rPr>
              <a:t>Fosters domestic semiconductor IP innovation and open-source hardware design, creating energy-efficient, accessible domain-specific AI processing chips for IoT and edge infrastructure.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SDG 7 — Affordable and Clean Energy: </a:t>
            </a:r>
            <a:r>
              <a:rPr sz="1200" b="0">
                <a:solidFill>
                  <a:srgbClr val="000000"/>
                </a:solidFill>
                <a:latin typeface="Calibri"/>
              </a:rPr>
              <a:t>Delivers a 99.05% execution cycle reduction over standard computing architectures, drastically cutting the energy and carbon footprint required for edge AI inferencing in battery-operated edge systems.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SDG 12 — Responsible Consumption and Production: </a:t>
            </a:r>
            <a:r>
              <a:rPr sz="1200" b="0">
                <a:solidFill>
                  <a:srgbClr val="000000"/>
                </a:solidFill>
                <a:latin typeface="Calibri"/>
              </a:rPr>
              <a:t>Maximizes silicon area utilization (97.8% logic gate reduction) and leverages open-source EDA tools (Yosys, Icarus Verilog, nextpnr) to minimize licensing waste and electronic obsolescence.</a:t>
            </a:r>
          </a:p>
        </p:txBody>
      </p:sp>
    </p:spTree>
    <p:extLst>
      <p:ext uri="{BB962C8B-B14F-4D97-AF65-F5344CB8AC3E}">
        <p14:creationId xmlns:p14="http://schemas.microsoft.com/office/powerpoint/2010/main" val="344378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500" b="1">
                <a:solidFill>
                  <a:srgbClr val="1D2F82"/>
                </a:solidFill>
                <a:latin typeface="Calibri"/>
              </a:rPr>
              <a:t>Conclusion (100% Work Completed):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Full-Stack Architecture: </a:t>
            </a:r>
            <a:r>
              <a:rPr sz="1200" b="0">
                <a:solidFill>
                  <a:srgbClr val="000000"/>
                </a:solidFill>
                <a:latin typeface="Calibri"/>
              </a:rPr>
              <a:t>Successfully designed, simulated, debugged, and synthesized a complete RISC-V (RV32IM) SoC integrated with a 4×4 INT8 systolic-array AI accelerator and 16 KB dual-port SRAM.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Validated Performance: </a:t>
            </a:r>
            <a:r>
              <a:rPr sz="1200" b="0">
                <a:solidFill>
                  <a:srgbClr val="000000"/>
                </a:solidFill>
                <a:latin typeface="Calibri"/>
              </a:rPr>
              <a:t>Demonstrated a 105.6× speedup and 99.05% cycle reduction over scalar execution, completing 4×4 matrix multiplication in deterministic 8 clock cycles with 16 MAC operations/cycle.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Verified Reliability: </a:t>
            </a:r>
            <a:r>
              <a:rPr sz="1200" b="0">
                <a:solidFill>
                  <a:srgbClr val="000000"/>
                </a:solidFill>
                <a:latin typeface="Calibri"/>
              </a:rPr>
              <a:t>Diagnosed and resolved two critical hardware bugs (MMIO sticky done latch and CPU forwarding priority inversion), achieving 100% pass across all unit, core, and SoC regression testbenches.</a:t>
            </a:r>
          </a:p>
          <a:p>
            <a:pPr lvl="1">
              <a:spcAft>
                <a:spcPts val="10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• Physical Board Deployment: </a:t>
            </a:r>
            <a:r>
              <a:rPr sz="1200" b="0">
                <a:solidFill>
                  <a:srgbClr val="000000"/>
                </a:solidFill>
                <a:latin typeface="Calibri"/>
              </a:rPr>
              <a:t>Synthesized for Terasic DE10-Lite FPGA (Intel MAX 10), slashing logic cell usage by 97.8% (13,427 cells, 28 DSPs) with full interactive LED and 7-segment display verification ('bAbE').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Future Scope &amp; Technological Enhancements: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1. Systolic Array Dimension Scaling: </a:t>
            </a:r>
            <a:r>
              <a:rPr sz="1200" b="0">
                <a:solidFill>
                  <a:srgbClr val="000000"/>
                </a:solidFill>
                <a:latin typeface="Calibri"/>
              </a:rPr>
              <a:t>Expand from 4×4 to 16×16 or 32×32 PE tiles with double-buffered weight stationary registers to process transformer attention blocks in real time.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2. AXI4 Burst Streaming &amp; External Memory: </a:t>
            </a:r>
            <a:r>
              <a:rPr sz="1200" b="0">
                <a:solidFill>
                  <a:srgbClr val="000000"/>
                </a:solidFill>
                <a:latin typeface="Calibri"/>
              </a:rPr>
              <a:t>Implement an AXI4 DMA burst engine and SDRAM/DDR controller to stream multi-megabyte weights directly from external memory.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3. Mixed-Precision Floating Point Arithmetic: </a:t>
            </a:r>
            <a:r>
              <a:rPr sz="1200" b="0">
                <a:solidFill>
                  <a:srgbClr val="000000"/>
                </a:solidFill>
                <a:latin typeface="Calibri"/>
              </a:rPr>
              <a:t>Incorporate FP16 and Bfloat16 support into processing elements for higher dynamic range inference.</a:t>
            </a: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4. ASIC Tape-Out via Open-Source PDK: </a:t>
            </a:r>
            <a:r>
              <a:rPr sz="1200" b="0">
                <a:solidFill>
                  <a:srgbClr val="000000"/>
                </a:solidFill>
                <a:latin typeface="Calibri"/>
              </a:rPr>
              <a:t>Perform physical place-and-route, clock tree synthesis, and DRC/LVS closure for tape-out on the SkyWater SKY130 130nm standard-cell process node.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00" b="1">
                <a:solidFill>
                  <a:srgbClr val="1D2F82"/>
                </a:solidFill>
                <a:latin typeface="Calibri"/>
              </a:rPr>
              <a:t>[1] </a:t>
            </a:r>
            <a:r>
              <a:rPr sz="1200" b="0">
                <a:solidFill>
                  <a:srgbClr val="000000"/>
                </a:solidFill>
                <a:latin typeface="Calibri"/>
              </a:rPr>
              <a:t>D. A. Patterson and J. L. Hennessy, Computer Organization and Design RISC-V Edition: The Hardware Software Interface, 2nd ed. Cambridge, MA, USA: Morgan Kaufmann, 2020.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[2] </a:t>
            </a:r>
            <a:r>
              <a:rPr sz="1200" b="0">
                <a:solidFill>
                  <a:srgbClr val="000000"/>
                </a:solidFill>
                <a:latin typeface="Calibri"/>
              </a:rPr>
              <a:t>N. P. Jouppi et al., "In-Datacenter Performance of an Operational Tensor Processing Unit," in Proc. 44th Annual International Symposium on Computer Architecture (ISCA), Toronto, ON, Canada, 2017, pp. 1–12.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[3] </a:t>
            </a:r>
            <a:r>
              <a:rPr sz="1200" b="0">
                <a:solidFill>
                  <a:srgbClr val="000000"/>
                </a:solidFill>
                <a:latin typeface="Calibri"/>
              </a:rPr>
              <a:t>H. T. Kung, "Why systolic architectures?," IEEE Computer, vol. 15, no. 1, pp. 37–46, Jan. 1982.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[4] </a:t>
            </a:r>
            <a:r>
              <a:rPr sz="1200" b="0">
                <a:solidFill>
                  <a:srgbClr val="000000"/>
                </a:solidFill>
                <a:latin typeface="Calibri"/>
              </a:rPr>
              <a:t>A. Waterman and K. Asanović, "The RISC-V Instruction Set Manual, Volume I: User-Level ISA, Document Version 2.2," RISC-V Foundation, Tech. Rep., May 2017.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[5] </a:t>
            </a:r>
            <a:r>
              <a:rPr sz="1200" b="0">
                <a:solidFill>
                  <a:srgbClr val="000000"/>
                </a:solidFill>
                <a:latin typeface="Calibri"/>
              </a:rPr>
              <a:t>V. Sze, Y. H. Chen, T. J. Yang, and J. S. Emer, "Efficient Processing of Deep Neural Networks: A Tutorial and Survey," Proceedings of the IEEE, vol. 105, no. 12, pp. 2295–2329, Dec. 2017.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[6] </a:t>
            </a:r>
            <a:r>
              <a:rPr sz="1200" b="0">
                <a:solidFill>
                  <a:srgbClr val="000000"/>
                </a:solidFill>
                <a:latin typeface="Calibri"/>
              </a:rPr>
              <a:t>Intel Corporation, "MAX 10 FPGA Device Overview &amp; DE10-Lite User Manual," Intel FPGA Documentation, Document ID MNL-1082, 2020.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format. Every reference listed must be cited in the slides / report.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D2F82"/>
                </a:solidFill>
                <a:latin typeface="Calibri"/>
              </a:rPr>
              <a:t>Project-I (2026)  ·  School of Electronics Engineering (SENSE)  ·  VIT Chennai
</a:t>
            </a:r>
            <a:r>
              <a:rPr sz="1300" b="0">
                <a:solidFill>
                  <a:srgbClr val="000000"/>
                </a:solidFill>
                <a:latin typeface="Calibri"/>
              </a:rPr>
              <a:t>Questions &amp; Answers / Physical DE10-Lite FPGA Demonstration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498</Words>
  <Application>Microsoft Macintosh PowerPoint</Application>
  <PresentationFormat>Widescreen</PresentationFormat>
  <Paragraphs>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2026-10-08T04:54:00Z</dcterms:modified>
</cp:coreProperties>
</file>